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embeddedFontLst>
    <p:embeddedFont>
      <p:font typeface="Georgia" panose="02040502050405020303" pitchFamily="18" charset="0"/>
      <p:regular r:id="rId9"/>
      <p:bold r:id="rId10"/>
      <p:italic r:id="rId11"/>
      <p:boldItalic r:id="rId12"/>
    </p:embeddedFont>
    <p:embeddedFont>
      <p:font typeface="Oswald" panose="00000500000000000000" pitchFamily="2" charset="0"/>
      <p:regular r:id="rId13"/>
      <p:bold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5" roundtripDataSignature="AMtx7mgJ981gciAkakxYMNF0g1tVV9d/f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customschemas.google.com/relationships/presentationmetadata" Target="metadata"/><Relationship Id="rId10" Type="http://schemas.openxmlformats.org/officeDocument/2006/relationships/font" Target="fonts/font2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"/>
            <a:headEnd type="none" w="sm" len="sm"/>
            <a:tailEnd type="none" w="sm" len="sm"/>
          </a:ln>
        </p:spPr>
      </p:sp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8" name="Google Shape;98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"/>
            <a:headEnd type="none" w="sm" len="sm"/>
            <a:tailEnd type="none" w="sm" len="sm"/>
          </a:ln>
        </p:spPr>
      </p:sp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0" name="Google Shape;11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"/>
            <a:headEnd type="none" w="sm" len="sm"/>
            <a:tailEnd type="none" w="sm" len="sm"/>
          </a:ln>
        </p:spPr>
      </p:sp>
      <p:sp>
        <p:nvSpPr>
          <p:cNvPr id="119" name="Google Shape;11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0" name="Google Shape;120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"/>
            <a:headEnd type="none" w="sm" len="sm"/>
            <a:tailEnd type="none" w="sm" len="sm"/>
          </a:ln>
        </p:spPr>
      </p:sp>
      <p:sp>
        <p:nvSpPr>
          <p:cNvPr id="130" name="Google Shape;13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"/>
            <a:headEnd type="none" w="sm" len="sm"/>
            <a:tailEnd type="none" w="sm" len="sm"/>
          </a:ln>
        </p:spPr>
      </p:sp>
      <p:sp>
        <p:nvSpPr>
          <p:cNvPr id="141" name="Google Shape;14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2" name="Google Shape;142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9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0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1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2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2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6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6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7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body" idx="1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>
            <a:spLocks noGrp="1"/>
          </p:cNvSpPr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9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1" name="Google Shape;11;p8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48150" y="-13500"/>
            <a:ext cx="12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 txBox="1">
            <a:spLocks noGrp="1"/>
          </p:cNvSpPr>
          <p:nvPr>
            <p:ph type="subTitle" idx="1"/>
          </p:nvPr>
        </p:nvSpPr>
        <p:spPr>
          <a:xfrm>
            <a:off x="2458925" y="1549550"/>
            <a:ext cx="7420200" cy="8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"/>
          <p:cNvSpPr txBox="1">
            <a:spLocks noGrp="1"/>
          </p:cNvSpPr>
          <p:nvPr>
            <p:ph type="ctrTitle"/>
          </p:nvPr>
        </p:nvSpPr>
        <p:spPr>
          <a:xfrm>
            <a:off x="684225" y="1576675"/>
            <a:ext cx="103632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8" tIns="18288" rIns="18288" bIns="18288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sz="2700">
                <a:solidFill>
                  <a:srgbClr val="EE822A"/>
                </a:solidFill>
                <a:latin typeface="Georgia"/>
              </a:rPr>
              <a:t>VIKASIT NAGPUR HACKATHON 2026</a:t>
            </a:r>
            <a:endParaRPr sz="3200" b="1">
              <a:solidFill>
                <a:srgbClr val="FF9900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331275" y="2307750"/>
            <a:ext cx="10445700" cy="2046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0" tIns="45700" rIns="45720" bIns="45700" anchor="t" anchorCtr="0">
            <a:spAutoFit/>
          </a:bodyPr>
          <a:lstStyle/>
          <a:p>
            <a:pPr marL="342000" marR="0" lvl="0" indent="0" rtl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-IN" sz="1700" dirty="0">
                <a:solidFill>
                  <a:srgbClr val="1C2127"/>
                </a:solidFill>
                <a:latin typeface="Aptos"/>
              </a:rPr>
              <a:t>P</a:t>
            </a:r>
            <a:r>
              <a:rPr sz="1700" dirty="0" err="1">
                <a:solidFill>
                  <a:srgbClr val="1C2127"/>
                </a:solidFill>
                <a:latin typeface="Aptos"/>
              </a:rPr>
              <a:t>roject</a:t>
            </a:r>
            <a:r>
              <a:rPr sz="1700" dirty="0">
                <a:solidFill>
                  <a:srgbClr val="1C2127"/>
                </a:solidFill>
                <a:latin typeface="Aptos"/>
              </a:rPr>
              <a:t> Name</a:t>
            </a:r>
            <a:r>
              <a:rPr lang="en-IN" sz="1700" dirty="0">
                <a:solidFill>
                  <a:srgbClr val="1C2127"/>
                </a:solidFill>
                <a:latin typeface="Aptos"/>
              </a:rPr>
              <a:t> (Registered on portal): </a:t>
            </a:r>
            <a:r>
              <a:rPr lang="en-IN" sz="1700" dirty="0" err="1">
                <a:solidFill>
                  <a:srgbClr val="1C2127"/>
                </a:solidFill>
                <a:latin typeface="Aptos"/>
              </a:rPr>
              <a:t>OrangeX</a:t>
            </a:r>
            <a:endParaRPr lang="en-IN" sz="1700" dirty="0">
              <a:solidFill>
                <a:srgbClr val="1C2127"/>
              </a:solidFill>
              <a:latin typeface="Aptos"/>
            </a:endParaRPr>
          </a:p>
          <a:p>
            <a:pPr marL="342000" marR="0" lvl="0" indent="0" rtl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700" dirty="0">
                <a:solidFill>
                  <a:srgbClr val="1C2127"/>
                </a:solidFill>
                <a:latin typeface="Aptos"/>
              </a:rPr>
              <a:t>Registration No (Received on </a:t>
            </a:r>
            <a:r>
              <a:rPr sz="1700" dirty="0" err="1">
                <a:solidFill>
                  <a:srgbClr val="1C2127"/>
                </a:solidFill>
                <a:latin typeface="Aptos"/>
              </a:rPr>
              <a:t>Whatsapp</a:t>
            </a:r>
            <a:r>
              <a:rPr sz="1700" dirty="0">
                <a:solidFill>
                  <a:srgbClr val="1C2127"/>
                </a:solidFill>
                <a:latin typeface="Aptos"/>
              </a:rPr>
              <a:t>): </a:t>
            </a:r>
            <a:r>
              <a:rPr lang="en-IN" sz="1700" dirty="0">
                <a:solidFill>
                  <a:srgbClr val="1C2127"/>
                </a:solidFill>
                <a:latin typeface="Aptos"/>
              </a:rPr>
              <a:t>PAR-260814-3389</a:t>
            </a:r>
          </a:p>
          <a:p>
            <a:pPr>
              <a:spcAft>
                <a:spcPts val="500"/>
              </a:spcAft>
            </a:pPr>
            <a:r>
              <a:rPr lang="en-IN" sz="1700" dirty="0">
                <a:solidFill>
                  <a:srgbClr val="1C2127"/>
                </a:solidFill>
                <a:latin typeface="Aptos"/>
              </a:rPr>
              <a:t>        </a:t>
            </a:r>
            <a:r>
              <a:rPr sz="1700" dirty="0">
                <a:solidFill>
                  <a:srgbClr val="1C2127"/>
                </a:solidFill>
                <a:latin typeface="Aptos"/>
              </a:rPr>
              <a:t>Theme (Existing):</a:t>
            </a:r>
            <a:r>
              <a:rPr lang="en-IN" sz="1700" dirty="0">
                <a:solidFill>
                  <a:srgbClr val="1C2127"/>
                </a:solidFill>
                <a:latin typeface="Aptos"/>
              </a:rPr>
              <a:t> Open Innovation for </a:t>
            </a:r>
            <a:r>
              <a:rPr lang="en-IN" sz="1700" dirty="0" err="1">
                <a:solidFill>
                  <a:srgbClr val="1C2127"/>
                </a:solidFill>
                <a:latin typeface="Aptos"/>
              </a:rPr>
              <a:t>Vikasit</a:t>
            </a:r>
            <a:r>
              <a:rPr lang="en-IN" sz="1700" dirty="0">
                <a:solidFill>
                  <a:srgbClr val="1C2127"/>
                </a:solidFill>
                <a:latin typeface="Aptos"/>
              </a:rPr>
              <a:t> Nagpur</a:t>
            </a:r>
            <a:endParaRPr lang="en-IN" sz="1800" dirty="0"/>
          </a:p>
          <a:p>
            <a:pPr>
              <a:spcAft>
                <a:spcPts val="500"/>
              </a:spcAft>
            </a:pPr>
            <a:r>
              <a:rPr lang="en-IN" sz="1700" dirty="0">
                <a:solidFill>
                  <a:srgbClr val="1C2127"/>
                </a:solidFill>
                <a:latin typeface="Aptos"/>
              </a:rPr>
              <a:t>        </a:t>
            </a:r>
            <a:r>
              <a:rPr sz="1700" dirty="0">
                <a:solidFill>
                  <a:srgbClr val="1C2127"/>
                </a:solidFill>
                <a:latin typeface="Aptos"/>
              </a:rPr>
              <a:t>Problem Statement Title (Existing): Local-resolution access to fragmented water-quality information</a:t>
            </a:r>
          </a:p>
          <a:p>
            <a:pPr>
              <a:spcAft>
                <a:spcPts val="500"/>
              </a:spcAft>
            </a:pPr>
            <a:r>
              <a:rPr lang="en-IN" sz="1700" dirty="0">
                <a:solidFill>
                  <a:srgbClr val="1C2127"/>
                </a:solidFill>
                <a:latin typeface="Aptos"/>
              </a:rPr>
              <a:t>        </a:t>
            </a:r>
            <a:r>
              <a:rPr sz="1700" dirty="0">
                <a:solidFill>
                  <a:srgbClr val="1C2127"/>
                </a:solidFill>
                <a:latin typeface="Aptos"/>
              </a:rPr>
              <a:t>Expected Solution Title (Existing): Citizen-centric water transparency map</a:t>
            </a:r>
          </a:p>
          <a:p>
            <a:pPr>
              <a:spcAft>
                <a:spcPts val="500"/>
              </a:spcAft>
            </a:pPr>
            <a:r>
              <a:rPr lang="en-IN" sz="1700" dirty="0">
                <a:solidFill>
                  <a:srgbClr val="1C2127"/>
                </a:solidFill>
                <a:latin typeface="Aptos"/>
              </a:rPr>
              <a:t>        </a:t>
            </a:r>
            <a:r>
              <a:rPr sz="1700" dirty="0">
                <a:solidFill>
                  <a:srgbClr val="1C2127"/>
                </a:solidFill>
                <a:latin typeface="Aptos"/>
              </a:rPr>
              <a:t>Designed Solution Title (Team): </a:t>
            </a:r>
            <a:r>
              <a:rPr lang="en-IN" sz="1700" dirty="0" err="1">
                <a:solidFill>
                  <a:srgbClr val="1C2127"/>
                </a:solidFill>
                <a:latin typeface="Aptos"/>
              </a:rPr>
              <a:t>NeerNetra</a:t>
            </a:r>
            <a:endParaRPr sz="1700" dirty="0">
              <a:solidFill>
                <a:srgbClr val="1C2127"/>
              </a:solidFill>
              <a:latin typeface="Aptos"/>
            </a:endParaRPr>
          </a:p>
        </p:txBody>
      </p:sp>
      <p:pic>
        <p:nvPicPr>
          <p:cNvPr id="92" name="Google Shape;92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300" y="0"/>
            <a:ext cx="1701677" cy="1537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" title="Screenshot 2026-08-05 at 12.39.28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58000" y="103900"/>
            <a:ext cx="5981527" cy="1290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" title="Screenshot 2026-08-05 at 12.29.40 PM.png"/>
          <p:cNvPicPr preferRelativeResize="0"/>
          <p:nvPr/>
        </p:nvPicPr>
        <p:blipFill rotWithShape="1">
          <a:blip r:embed="rId5">
            <a:alphaModFix/>
          </a:blip>
          <a:srcRect l="289"/>
          <a:stretch/>
        </p:blipFill>
        <p:spPr>
          <a:xfrm>
            <a:off x="1261073" y="5359425"/>
            <a:ext cx="9937951" cy="1291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TextBox 94"/>
          <p:cNvSpPr txBox="1"/>
          <p:nvPr/>
        </p:nvSpPr>
        <p:spPr>
          <a:xfrm>
            <a:off x="2834640" y="4800600"/>
            <a:ext cx="6400800" cy="4114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700" b="1">
                <a:solidFill>
                  <a:srgbClr val="0B2B58"/>
                </a:solidFill>
                <a:latin typeface="Aptos"/>
              </a:rPr>
              <a:t>Connecting existing measurements to the resident they affect.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 txBox="1"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en-US" sz="3600" b="1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36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3600" b="1" dirty="0">
              <a:solidFill>
                <a:schemeClr val="accent6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1034800" y="2209325"/>
            <a:ext cx="9536100" cy="19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sng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900" b="0">
                <a:solidFill>
                  <a:srgbClr val="58616C"/>
                </a:solidFill>
                <a:latin typeface="Aptos"/>
              </a:rPr>
              <a:t>2/6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03" name="Google Shape;103;p2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sz="900" b="0">
                <a:solidFill>
                  <a:srgbClr val="58616C"/>
                </a:solidFill>
                <a:latin typeface="Aptos"/>
              </a:rPr>
              <a:t>Vikasit Nagpur Hackathon 2026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2792150" y="1442025"/>
            <a:ext cx="614040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2500" b="0" dirty="0" err="1">
                <a:solidFill>
                  <a:srgbClr val="EE822A"/>
                </a:solidFill>
                <a:latin typeface="Georgia"/>
              </a:rPr>
              <a:t>NeerNetra</a:t>
            </a:r>
            <a:r>
              <a:rPr lang="en-IN" sz="2500" b="0" dirty="0">
                <a:solidFill>
                  <a:srgbClr val="EE822A"/>
                </a:solidFill>
                <a:latin typeface="Georgia"/>
              </a:rPr>
              <a:t> – A </a:t>
            </a:r>
            <a:r>
              <a:rPr sz="2500" b="0" dirty="0">
                <a:solidFill>
                  <a:srgbClr val="EE822A"/>
                </a:solidFill>
                <a:latin typeface="Georgia"/>
              </a:rPr>
              <a:t>NAGPUR WATER TRANSPARENCY MAP</a:t>
            </a:r>
            <a:endParaRPr sz="2400" b="0" i="0" u="none" strike="noStrike" cap="none" dirty="0">
              <a:solidFill>
                <a:schemeClr val="accent6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05" name="Google Shape;10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300" y="0"/>
            <a:ext cx="1701677" cy="1537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2" title="Screenshot 2026-08-05 at 12.39.28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58000" y="103900"/>
            <a:ext cx="5981527" cy="1290999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TextBox 106"/>
          <p:cNvSpPr txBox="1"/>
          <p:nvPr/>
        </p:nvSpPr>
        <p:spPr>
          <a:xfrm>
            <a:off x="822960" y="2240280"/>
            <a:ext cx="10241280" cy="38404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700" b="1">
                <a:solidFill>
                  <a:srgbClr val="0B2B58"/>
                </a:solidFill>
                <a:latin typeface="Aptos"/>
              </a:rPr>
              <a:t>SOLUTION — CONNECT THE DATA THAT ALREADY EXISTS TO THE LOCATION WHERE PEOPLE LIVE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14400" y="2743200"/>
            <a:ext cx="5486400" cy="21488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C2127"/>
                </a:solidFill>
                <a:latin typeface="Aptos"/>
              </a:defRPr>
            </a:pPr>
            <a:r>
              <a:rPr dirty="0"/>
              <a:t>• Unifies 395 verified measurements from CGWB and CSIR-NEERI in one locality-scale map.</a:t>
            </a:r>
          </a:p>
          <a:p>
            <a:pPr>
              <a:spcAft>
                <a:spcPts val="800"/>
              </a:spcAft>
              <a:defRPr sz="1400">
                <a:solidFill>
                  <a:srgbClr val="1C2127"/>
                </a:solidFill>
                <a:latin typeface="Aptos"/>
              </a:defRPr>
            </a:pPr>
            <a:r>
              <a:rPr dirty="0"/>
              <a:t>• Point click → standards-based verdict, measured values, sample period and source.</a:t>
            </a:r>
          </a:p>
          <a:p>
            <a:pPr>
              <a:spcAft>
                <a:spcPts val="800"/>
              </a:spcAft>
              <a:defRPr sz="1400">
                <a:solidFill>
                  <a:srgbClr val="1C2127"/>
                </a:solidFill>
                <a:latin typeface="Aptos"/>
              </a:defRPr>
            </a:pPr>
            <a:r>
              <a:rPr dirty="0"/>
              <a:t>• Location search → nearest measurement + distance; unmeasured areas stay explicitly grey.</a:t>
            </a:r>
          </a:p>
          <a:p>
            <a:pPr>
              <a:spcAft>
                <a:spcPts val="800"/>
              </a:spcAft>
              <a:defRPr sz="1400">
                <a:solidFill>
                  <a:srgbClr val="1C2127"/>
                </a:solidFill>
                <a:latin typeface="Aptos"/>
              </a:defRPr>
            </a:pPr>
            <a:r>
              <a:rPr dirty="0"/>
              <a:t>• Crop + location → CPCB irrigation class and FAO-29 crop yield-loss comparison.</a:t>
            </a:r>
          </a:p>
          <a:p>
            <a:pPr>
              <a:spcAft>
                <a:spcPts val="800"/>
              </a:spcAft>
              <a:defRPr sz="1400">
                <a:solidFill>
                  <a:srgbClr val="1C2127"/>
                </a:solidFill>
                <a:latin typeface="Aptos"/>
              </a:defRPr>
            </a:pPr>
            <a:r>
              <a:rPr dirty="0"/>
              <a:t>• Citizen readings can add local evidence, visually distinct and never treated as drinking-water certification.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6720840" y="2606040"/>
            <a:ext cx="43434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6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82296" rIns="109728" bIns="64008" rtlCol="0" anchor="ctr"/>
          <a:lstStyle/>
          <a:p>
            <a:pPr algn="ctr"/>
            <a:r>
              <a:rPr sz="1600" b="1">
                <a:solidFill>
                  <a:srgbClr val="EE822A"/>
                </a:solidFill>
                <a:latin typeface="Aptos"/>
              </a:rPr>
              <a:t>WHAT MAKES IT DIFFERENT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C2127"/>
                </a:solidFill>
                <a:latin typeface="Aptos"/>
              </a:rPr>
              <a:t>Resolution, provenance and uncertainty are visible on the screen — not hidden in a report.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6720840" y="3840480"/>
            <a:ext cx="2011680" cy="1143000"/>
          </a:xfrm>
          <a:prstGeom prst="roundRect">
            <a:avLst/>
          </a:prstGeom>
          <a:solidFill>
            <a:srgbClr val="F6F7F8"/>
          </a:solidFill>
          <a:ln>
            <a:solidFill>
              <a:srgbClr val="D6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82296" rIns="109728" bIns="64008" rtlCol="0" anchor="ctr"/>
          <a:lstStyle/>
          <a:p>
            <a:pPr algn="ctr"/>
            <a:r>
              <a:rPr sz="2400" b="1">
                <a:solidFill>
                  <a:srgbClr val="0B2B58"/>
                </a:solidFill>
                <a:latin typeface="Aptos"/>
              </a:rPr>
              <a:t>395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C2127"/>
                </a:solidFill>
                <a:latin typeface="Aptos"/>
              </a:rPr>
              <a:t>real measurement points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9052560" y="3840480"/>
            <a:ext cx="2011680" cy="1143000"/>
          </a:xfrm>
          <a:prstGeom prst="roundRect">
            <a:avLst/>
          </a:prstGeom>
          <a:solidFill>
            <a:srgbClr val="F6F7F8"/>
          </a:solidFill>
          <a:ln>
            <a:solidFill>
              <a:srgbClr val="D6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82296" rIns="109728" bIns="64008" rtlCol="0" anchor="ctr"/>
          <a:lstStyle/>
          <a:p>
            <a:pPr algn="ctr"/>
            <a:r>
              <a:rPr sz="2400" b="1">
                <a:solidFill>
                  <a:srgbClr val="B83535"/>
                </a:solidFill>
                <a:latin typeface="Aptos"/>
              </a:rPr>
              <a:t>63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C2127"/>
                </a:solidFill>
                <a:latin typeface="Aptos"/>
              </a:rPr>
              <a:t>CGWB sites exceed ≥1 IS 10500 limit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6720840" y="5212080"/>
            <a:ext cx="2011680" cy="1143000"/>
          </a:xfrm>
          <a:prstGeom prst="roundRect">
            <a:avLst/>
          </a:prstGeom>
          <a:solidFill>
            <a:srgbClr val="F6F7F8"/>
          </a:solidFill>
          <a:ln>
            <a:solidFill>
              <a:srgbClr val="D6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82296" rIns="109728" bIns="64008" rtlCol="0" anchor="ctr"/>
          <a:lstStyle/>
          <a:p>
            <a:pPr algn="ctr"/>
            <a:r>
              <a:rPr sz="2200" b="1">
                <a:solidFill>
                  <a:srgbClr val="B83535"/>
                </a:solidFill>
                <a:latin typeface="Aptos"/>
              </a:rPr>
              <a:t>21/23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C2127"/>
                </a:solidFill>
                <a:latin typeface="Aptos"/>
              </a:rPr>
              <a:t>river sites below CPCB Class D DO line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9052560" y="5212080"/>
            <a:ext cx="2011680" cy="1143000"/>
          </a:xfrm>
          <a:prstGeom prst="roundRect">
            <a:avLst/>
          </a:prstGeom>
          <a:solidFill>
            <a:srgbClr val="F6F7F8"/>
          </a:solidFill>
          <a:ln>
            <a:solidFill>
              <a:srgbClr val="D6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82296" rIns="109728" bIns="64008" rtlCol="0" anchor="ctr"/>
          <a:lstStyle/>
          <a:p>
            <a:pPr algn="ctr"/>
            <a:r>
              <a:rPr sz="2200" b="1">
                <a:solidFill>
                  <a:srgbClr val="EE822A"/>
                </a:solidFill>
                <a:latin typeface="Aptos"/>
              </a:rPr>
              <a:t>91%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C2127"/>
                </a:solidFill>
                <a:latin typeface="Aptos"/>
              </a:rPr>
              <a:t>orange yield-loss at Belgaon preset; cotton 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"/>
          <p:cNvSpPr txBox="1">
            <a:spLocks noGrp="1"/>
          </p:cNvSpPr>
          <p:nvPr>
            <p:ph type="title"/>
          </p:nvPr>
        </p:nvSpPr>
        <p:spPr>
          <a:xfrm>
            <a:off x="3493825" y="1537451"/>
            <a:ext cx="4083000" cy="6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400" b="1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 sz="2400">
              <a:solidFill>
                <a:schemeClr val="accent6"/>
              </a:solidFill>
            </a:endParaRPr>
          </a:p>
        </p:txBody>
      </p:sp>
      <p:sp>
        <p:nvSpPr>
          <p:cNvPr id="113" name="Google Shape;113;p3"/>
          <p:cNvSpPr txBox="1"/>
          <p:nvPr/>
        </p:nvSpPr>
        <p:spPr>
          <a:xfrm>
            <a:off x="609600" y="2338800"/>
            <a:ext cx="88284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900" b="0">
                <a:solidFill>
                  <a:srgbClr val="58616C"/>
                </a:solidFill>
                <a:latin typeface="Aptos"/>
              </a:rPr>
              <a:t>3/6</a:t>
            </a:r>
            <a:endParaRPr b="1">
              <a:solidFill>
                <a:schemeClr val="lt1"/>
              </a:solidFill>
            </a:endParaRPr>
          </a:p>
        </p:txBody>
      </p:sp>
      <p:pic>
        <p:nvPicPr>
          <p:cNvPr id="115" name="Google Shape;115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300" y="0"/>
            <a:ext cx="1701677" cy="1537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3" title="Screenshot 2026-08-05 at 12.39.28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58000" y="103900"/>
            <a:ext cx="5981527" cy="129099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TextBox 116"/>
          <p:cNvSpPr txBox="1"/>
          <p:nvPr/>
        </p:nvSpPr>
        <p:spPr>
          <a:xfrm>
            <a:off x="658368" y="2029968"/>
            <a:ext cx="9695000" cy="33547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700" b="1" dirty="0">
                <a:solidFill>
                  <a:srgbClr val="0B2B58"/>
                </a:solidFill>
                <a:latin typeface="Aptos"/>
              </a:rPr>
              <a:t>TECH STACK &amp; DATA FLOW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548640" y="2578608"/>
            <a:ext cx="2148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6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82296" rIns="109728" bIns="64008" rtlCol="0" anchor="ctr"/>
          <a:lstStyle/>
          <a:p>
            <a:pPr algn="ctr"/>
            <a:r>
              <a:rPr sz="1500" b="1">
                <a:solidFill>
                  <a:srgbClr val="EE822A"/>
                </a:solidFill>
                <a:latin typeface="Aptos"/>
              </a:rPr>
              <a:t>Published sources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C2127"/>
                </a:solidFill>
                <a:latin typeface="Aptos"/>
              </a:rPr>
              <a:t>CGWB
CSIR-NEERI
IS 10500 / CPCB / FAO-29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2971800" y="2578608"/>
            <a:ext cx="2148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6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82296" rIns="109728" bIns="64008" rtlCol="0" anchor="ctr"/>
          <a:lstStyle/>
          <a:p>
            <a:pPr algn="ctr"/>
            <a:r>
              <a:rPr sz="1500" b="1">
                <a:solidFill>
                  <a:srgbClr val="EE822A"/>
                </a:solidFill>
                <a:latin typeface="Aptos"/>
              </a:rPr>
              <a:t>Normalization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C2127"/>
                </a:solidFill>
                <a:latin typeface="Aptos"/>
              </a:rPr>
              <a:t>Units + provenance
GeoJSON / CSV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5394960" y="2578608"/>
            <a:ext cx="2148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6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82296" rIns="109728" bIns="64008" rtlCol="0" anchor="ctr"/>
          <a:lstStyle/>
          <a:p>
            <a:pPr algn="ctr"/>
            <a:r>
              <a:rPr sz="1500" b="1">
                <a:solidFill>
                  <a:srgbClr val="EE822A"/>
                </a:solidFill>
                <a:latin typeface="Aptos"/>
              </a:rPr>
              <a:t>Verdict layer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C2127"/>
                </a:solidFill>
                <a:latin typeface="Aptos"/>
              </a:rPr>
              <a:t>Python reference engine
→ JS port + equivalence test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7818120" y="2578608"/>
            <a:ext cx="2148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6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82296" rIns="109728" bIns="64008" rtlCol="0" anchor="ctr"/>
          <a:lstStyle/>
          <a:p>
            <a:pPr algn="ctr"/>
            <a:r>
              <a:rPr sz="1500" b="1">
                <a:solidFill>
                  <a:srgbClr val="EE822A"/>
                </a:solidFill>
                <a:latin typeface="Aptos"/>
              </a:rPr>
              <a:t>Web app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C2127"/>
                </a:solidFill>
                <a:latin typeface="Aptos"/>
              </a:rPr>
              <a:t>Vite + React
MapLibre / Leaflet</a:t>
            </a:r>
          </a:p>
        </p:txBody>
      </p:sp>
      <p:cxnSp>
        <p:nvCxnSpPr>
          <p:cNvPr id="122" name="Connector 121"/>
          <p:cNvCxnSpPr/>
          <p:nvPr/>
        </p:nvCxnSpPr>
        <p:spPr>
          <a:xfrm>
            <a:off x="2651760" y="3282696"/>
            <a:ext cx="320040" cy="0"/>
          </a:xfrm>
          <a:prstGeom prst="line">
            <a:avLst/>
          </a:prstGeom>
          <a:ln w="27940">
            <a:solidFill>
              <a:srgbClr val="0B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5074920" y="3282696"/>
            <a:ext cx="320039" cy="0"/>
          </a:xfrm>
          <a:prstGeom prst="line">
            <a:avLst/>
          </a:prstGeom>
          <a:ln w="27940">
            <a:solidFill>
              <a:srgbClr val="0B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7498079" y="3282696"/>
            <a:ext cx="320040" cy="0"/>
          </a:xfrm>
          <a:prstGeom prst="line">
            <a:avLst/>
          </a:prstGeom>
          <a:ln w="27940">
            <a:solidFill>
              <a:srgbClr val="0B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Rounded Rectangle 124"/>
          <p:cNvSpPr/>
          <p:nvPr/>
        </p:nvSpPr>
        <p:spPr>
          <a:xfrm>
            <a:off x="640080" y="4343400"/>
            <a:ext cx="3246120" cy="1234440"/>
          </a:xfrm>
          <a:prstGeom prst="roundRect">
            <a:avLst/>
          </a:prstGeom>
          <a:solidFill>
            <a:srgbClr val="F6F7F8"/>
          </a:solidFill>
          <a:ln>
            <a:solidFill>
              <a:srgbClr val="D6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82296" rIns="109728" bIns="64008" rtlCol="0" anchor="ctr"/>
          <a:lstStyle/>
          <a:p>
            <a:pPr algn="ctr"/>
            <a:r>
              <a:rPr sz="1500" b="1">
                <a:solidFill>
                  <a:srgbClr val="0B2B58"/>
                </a:solidFill>
                <a:latin typeface="Aptos"/>
              </a:rPr>
              <a:t>OFFLINE-FIRST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C2127"/>
                </a:solidFill>
                <a:latin typeface="Aptos"/>
              </a:rPr>
              <a:t>Data bundled into the build; local tiles/libs; no live API dependency during the demo.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4069080" y="4343400"/>
            <a:ext cx="3246120" cy="1234440"/>
          </a:xfrm>
          <a:prstGeom prst="roundRect">
            <a:avLst/>
          </a:prstGeom>
          <a:solidFill>
            <a:srgbClr val="F6F7F8"/>
          </a:solidFill>
          <a:ln>
            <a:solidFill>
              <a:srgbClr val="D6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82296" rIns="109728" bIns="64008" rtlCol="0" anchor="ctr"/>
          <a:lstStyle/>
          <a:p>
            <a:pPr algn="ctr"/>
            <a:r>
              <a:rPr sz="1500" b="1">
                <a:solidFill>
                  <a:srgbClr val="B83535"/>
                </a:solidFill>
                <a:latin typeface="Aptos"/>
              </a:rPr>
              <a:t>NO DATABASE / NO ML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C2127"/>
                </a:solidFill>
                <a:latin typeface="Aptos"/>
              </a:rPr>
              <a:t>Client-side computations over verified data. No predictive ML path and no invented water-safety score.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7498079" y="4343400"/>
            <a:ext cx="3246120" cy="1234440"/>
          </a:xfrm>
          <a:prstGeom prst="roundRect">
            <a:avLst/>
          </a:prstGeom>
          <a:solidFill>
            <a:srgbClr val="F6F7F8"/>
          </a:solidFill>
          <a:ln>
            <a:solidFill>
              <a:srgbClr val="D6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82296" rIns="109728" bIns="64008" rtlCol="0" anchor="ctr"/>
          <a:lstStyle/>
          <a:p>
            <a:pPr algn="ctr"/>
            <a:r>
              <a:rPr sz="1500" b="1">
                <a:solidFill>
                  <a:srgbClr val="EE822A"/>
                </a:solidFill>
                <a:latin typeface="Aptos"/>
              </a:rPr>
              <a:t>PRIVACY + TRACEABILITY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C2127"/>
                </a:solidFill>
                <a:latin typeface="Aptos"/>
              </a:rPr>
              <a:t>Source and sample period shown with every point; private/citizen locations are coarsened.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914400" y="5742432"/>
            <a:ext cx="1005840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300" b="1">
                <a:solidFill>
                  <a:srgbClr val="58616C"/>
                </a:solidFill>
                <a:latin typeface="Aptos"/>
              </a:rPr>
              <a:t>395 points  •  35 crops  •  749 supply zones  •  31 reported flood locations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"/>
          <p:cNvSpPr txBox="1">
            <a:spLocks noGrp="1"/>
          </p:cNvSpPr>
          <p:nvPr>
            <p:ph type="title"/>
          </p:nvPr>
        </p:nvSpPr>
        <p:spPr>
          <a:xfrm>
            <a:off x="534983" y="1277799"/>
            <a:ext cx="10972800" cy="8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400" b="1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PRACTICAL IMPLEMENTATION</a:t>
            </a:r>
            <a:endParaRPr sz="2400">
              <a:solidFill>
                <a:schemeClr val="accent6"/>
              </a:solidFill>
            </a:endParaRPr>
          </a:p>
        </p:txBody>
      </p:sp>
      <p:sp>
        <p:nvSpPr>
          <p:cNvPr id="123" name="Google Shape;123;p4"/>
          <p:cNvSpPr txBox="1"/>
          <p:nvPr/>
        </p:nvSpPr>
        <p:spPr>
          <a:xfrm>
            <a:off x="1273628" y="2288280"/>
            <a:ext cx="7217229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sz="900" b="0">
                <a:solidFill>
                  <a:srgbClr val="58616C"/>
                </a:solidFill>
                <a:latin typeface="Aptos"/>
              </a:rPr>
              <a:t>4/6</a:t>
            </a:r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5" name="Google Shape;125;p4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sz="900" b="0">
                <a:solidFill>
                  <a:srgbClr val="58616C"/>
                </a:solidFill>
                <a:latin typeface="Aptos"/>
              </a:rPr>
              <a:t>Vikasit Nagpur Hackathon 2026</a:t>
            </a:r>
            <a:endParaRPr sz="1200" b="0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26" name="Google Shape;126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300" y="0"/>
            <a:ext cx="1701677" cy="1537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4" title="Screenshot 2026-08-05 at 12.39.28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58000" y="103900"/>
            <a:ext cx="5981527" cy="1290999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TextBox 127"/>
          <p:cNvSpPr txBox="1"/>
          <p:nvPr/>
        </p:nvSpPr>
        <p:spPr>
          <a:xfrm>
            <a:off x="685800" y="2084831"/>
            <a:ext cx="5212080" cy="32918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700" b="1">
                <a:solidFill>
                  <a:srgbClr val="0B2B58"/>
                </a:solidFill>
                <a:latin typeface="Aptos"/>
              </a:rPr>
              <a:t>IMPLEMENTATION &amp; 3-MINUTE DEMO PATH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172200" y="2084831"/>
            <a:ext cx="4846320" cy="32918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700" b="1">
                <a:solidFill>
                  <a:srgbClr val="0B2B58"/>
                </a:solidFill>
                <a:latin typeface="Aptos"/>
              </a:rPr>
              <a:t>CHALLENGE → MITIGATION</a:t>
            </a:r>
          </a:p>
        </p:txBody>
      </p:sp>
      <p:sp>
        <p:nvSpPr>
          <p:cNvPr id="130" name="Oval 129"/>
          <p:cNvSpPr/>
          <p:nvPr/>
        </p:nvSpPr>
        <p:spPr>
          <a:xfrm>
            <a:off x="731520" y="2514600"/>
            <a:ext cx="384048" cy="384048"/>
          </a:xfrm>
          <a:prstGeom prst="ellipse">
            <a:avLst/>
          </a:prstGeom>
          <a:solidFill>
            <a:srgbClr val="EE822A"/>
          </a:solidFill>
          <a:ln>
            <a:solidFill>
              <a:srgbClr val="EE8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229300" y="2587906"/>
            <a:ext cx="2057400" cy="24688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300" b="1" dirty="0">
                <a:solidFill>
                  <a:srgbClr val="1C2127"/>
                </a:solidFill>
                <a:latin typeface="Aptos"/>
              </a:rPr>
              <a:t>Map loads sparse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240980" y="2587906"/>
            <a:ext cx="2423160" cy="40233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100" b="0" dirty="0">
                <a:solidFill>
                  <a:srgbClr val="58616C"/>
                </a:solidFill>
                <a:latin typeface="Aptos"/>
              </a:rPr>
              <a:t>395 points; everything else grey.</a:t>
            </a:r>
          </a:p>
        </p:txBody>
      </p:sp>
      <p:sp>
        <p:nvSpPr>
          <p:cNvPr id="133" name="Oval 132"/>
          <p:cNvSpPr/>
          <p:nvPr/>
        </p:nvSpPr>
        <p:spPr>
          <a:xfrm>
            <a:off x="731520" y="3136392"/>
            <a:ext cx="384048" cy="384048"/>
          </a:xfrm>
          <a:prstGeom prst="ellipse">
            <a:avLst/>
          </a:prstGeom>
          <a:solidFill>
            <a:srgbClr val="EE822A"/>
          </a:solidFill>
          <a:ln>
            <a:solidFill>
              <a:srgbClr val="EE8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229300" y="3209698"/>
            <a:ext cx="2057400" cy="24688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300" b="1" dirty="0">
                <a:solidFill>
                  <a:srgbClr val="1C2127"/>
                </a:solidFill>
                <a:latin typeface="Aptos"/>
              </a:rPr>
              <a:t>Click a measured point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3240980" y="3209698"/>
            <a:ext cx="2423160" cy="40233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100" b="0">
                <a:solidFill>
                  <a:srgbClr val="58616C"/>
                </a:solidFill>
                <a:latin typeface="Aptos"/>
              </a:rPr>
              <a:t>Verdict first, numbers second, source always.</a:t>
            </a:r>
          </a:p>
        </p:txBody>
      </p:sp>
      <p:sp>
        <p:nvSpPr>
          <p:cNvPr id="136" name="Oval 135"/>
          <p:cNvSpPr/>
          <p:nvPr/>
        </p:nvSpPr>
        <p:spPr>
          <a:xfrm>
            <a:off x="731520" y="3758184"/>
            <a:ext cx="384048" cy="384048"/>
          </a:xfrm>
          <a:prstGeom prst="ellipse">
            <a:avLst/>
          </a:prstGeom>
          <a:solidFill>
            <a:srgbClr val="EE822A"/>
          </a:solidFill>
          <a:ln>
            <a:solidFill>
              <a:srgbClr val="EE8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229300" y="3831490"/>
            <a:ext cx="2057400" cy="24688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300" b="1" dirty="0">
                <a:solidFill>
                  <a:srgbClr val="1C2127"/>
                </a:solidFill>
                <a:latin typeface="Aptos"/>
              </a:rPr>
              <a:t>Click a grey location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3240980" y="3831490"/>
            <a:ext cx="2423160" cy="40233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100" b="0">
                <a:solidFill>
                  <a:srgbClr val="58616C"/>
                </a:solidFill>
                <a:latin typeface="Aptos"/>
              </a:rPr>
              <a:t>“No measurement exists for this location.”</a:t>
            </a:r>
          </a:p>
        </p:txBody>
      </p:sp>
      <p:sp>
        <p:nvSpPr>
          <p:cNvPr id="139" name="Oval 138"/>
          <p:cNvSpPr/>
          <p:nvPr/>
        </p:nvSpPr>
        <p:spPr>
          <a:xfrm>
            <a:off x="731520" y="4379976"/>
            <a:ext cx="384048" cy="384048"/>
          </a:xfrm>
          <a:prstGeom prst="ellipse">
            <a:avLst/>
          </a:prstGeom>
          <a:solidFill>
            <a:srgbClr val="EE822A"/>
          </a:solidFill>
          <a:ln>
            <a:solidFill>
              <a:srgbClr val="EE8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229300" y="4453282"/>
            <a:ext cx="2057400" cy="24688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300" b="1" dirty="0">
                <a:solidFill>
                  <a:srgbClr val="1C2127"/>
                </a:solidFill>
                <a:latin typeface="Aptos"/>
              </a:rPr>
              <a:t>Belgaon preset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3240980" y="4453282"/>
            <a:ext cx="2423160" cy="40233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100" b="0">
                <a:solidFill>
                  <a:srgbClr val="58616C"/>
                </a:solidFill>
                <a:latin typeface="Aptos"/>
              </a:rPr>
              <a:t>Orange ~91% yield loss vs cotton 0%.</a:t>
            </a:r>
          </a:p>
        </p:txBody>
      </p:sp>
      <p:sp>
        <p:nvSpPr>
          <p:cNvPr id="142" name="Oval 141"/>
          <p:cNvSpPr/>
          <p:nvPr/>
        </p:nvSpPr>
        <p:spPr>
          <a:xfrm>
            <a:off x="731520" y="5001768"/>
            <a:ext cx="384048" cy="384048"/>
          </a:xfrm>
          <a:prstGeom prst="ellipse">
            <a:avLst/>
          </a:prstGeom>
          <a:solidFill>
            <a:srgbClr val="EE822A"/>
          </a:solidFill>
          <a:ln>
            <a:solidFill>
              <a:srgbClr val="EE8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229300" y="5075074"/>
            <a:ext cx="2057400" cy="24688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300" b="1">
                <a:solidFill>
                  <a:srgbClr val="1C2127"/>
                </a:solidFill>
                <a:latin typeface="Aptos"/>
              </a:rPr>
              <a:t>Submit a reading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3240980" y="5075074"/>
            <a:ext cx="2423160" cy="40233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100" b="0">
                <a:solidFill>
                  <a:srgbClr val="58616C"/>
                </a:solidFill>
                <a:latin typeface="Aptos"/>
              </a:rPr>
              <a:t>Grey area resolves into a distinct citizen point.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6144768" y="2514600"/>
            <a:ext cx="493776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6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82296" rIns="109728" bIns="64008" rtlCol="0" anchor="ctr"/>
          <a:lstStyle/>
          <a:p>
            <a:pPr algn="ctr"/>
            <a:r>
              <a:rPr sz="1100" b="1" dirty="0">
                <a:solidFill>
                  <a:srgbClr val="EE822A"/>
                </a:solidFill>
                <a:latin typeface="Aptos"/>
              </a:rPr>
              <a:t>Fragmented sources</a:t>
            </a:r>
          </a:p>
          <a:p>
            <a:pPr algn="ctr">
              <a:spcBef>
                <a:spcPts val="400"/>
              </a:spcBef>
            </a:pPr>
            <a:r>
              <a:rPr sz="900" dirty="0">
                <a:solidFill>
                  <a:srgbClr val="1C2127"/>
                </a:solidFill>
                <a:latin typeface="Aptos"/>
              </a:rPr>
              <a:t>Standardize units, preserve provenance, use the reconciled figures.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6144768" y="3136392"/>
            <a:ext cx="493776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6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82296" rIns="109728" bIns="64008" rtlCol="0" anchor="ctr"/>
          <a:lstStyle/>
          <a:p>
            <a:pPr algn="ctr"/>
            <a:r>
              <a:rPr sz="1100" b="1">
                <a:solidFill>
                  <a:srgbClr val="B83535"/>
                </a:solidFill>
                <a:latin typeface="Aptos"/>
              </a:rPr>
              <a:t>Venue Wi-Fi / offline</a:t>
            </a:r>
          </a:p>
          <a:p>
            <a:pPr algn="ctr">
              <a:spcBef>
                <a:spcPts val="400"/>
              </a:spcBef>
            </a:pPr>
            <a:r>
              <a:rPr sz="900">
                <a:solidFill>
                  <a:srgbClr val="1C2127"/>
                </a:solidFill>
                <a:latin typeface="Aptos"/>
              </a:rPr>
              <a:t>Bundle data + vendor libraries + local map tiles.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6144768" y="3758184"/>
            <a:ext cx="493776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6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82296" rIns="109728" bIns="64008" rtlCol="0" anchor="ctr"/>
          <a:lstStyle/>
          <a:p>
            <a:pPr algn="ctr"/>
            <a:r>
              <a:rPr sz="1100" b="1">
                <a:solidFill>
                  <a:srgbClr val="B83535"/>
                </a:solidFill>
                <a:latin typeface="Aptos"/>
              </a:rPr>
              <a:t>Overclaim risk</a:t>
            </a:r>
          </a:p>
          <a:p>
            <a:pPr algn="ctr">
              <a:spcBef>
                <a:spcPts val="400"/>
              </a:spcBef>
            </a:pPr>
            <a:r>
              <a:rPr sz="900">
                <a:solidFill>
                  <a:srgbClr val="1C2127"/>
                </a:solidFill>
                <a:latin typeface="Aptos"/>
              </a:rPr>
              <a:t>Exact three-state verdicts; no interpolation; source/date always visible.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6144768" y="4379976"/>
            <a:ext cx="493776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6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82296" rIns="109728" bIns="64008" rtlCol="0" anchor="ctr"/>
          <a:lstStyle/>
          <a:p>
            <a:pPr algn="ctr"/>
            <a:r>
              <a:rPr sz="1100" b="1">
                <a:solidFill>
                  <a:srgbClr val="EE822A"/>
                </a:solidFill>
                <a:latin typeface="Aptos"/>
              </a:rPr>
              <a:t>Privacy</a:t>
            </a:r>
          </a:p>
          <a:p>
            <a:pPr algn="ctr">
              <a:spcBef>
                <a:spcPts val="400"/>
              </a:spcBef>
            </a:pPr>
            <a:r>
              <a:rPr sz="900">
                <a:solidFill>
                  <a:srgbClr val="1C2127"/>
                </a:solidFill>
                <a:latin typeface="Aptos"/>
              </a:rPr>
              <a:t>No names on results; coarsen private/citizen locations.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6144768" y="5001768"/>
            <a:ext cx="493776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6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82296" rIns="109728" bIns="64008" rtlCol="0" anchor="ctr"/>
          <a:lstStyle/>
          <a:p>
            <a:pPr algn="ctr"/>
            <a:r>
              <a:rPr lang="en-IN" sz="1100" b="1" dirty="0">
                <a:solidFill>
                  <a:srgbClr val="EE822A"/>
                </a:solidFill>
                <a:latin typeface="Aptos"/>
              </a:rPr>
              <a:t>Easy</a:t>
            </a:r>
            <a:endParaRPr sz="1100" b="1" dirty="0">
              <a:solidFill>
                <a:srgbClr val="EE822A"/>
              </a:solidFill>
              <a:latin typeface="Aptos"/>
            </a:endParaRPr>
          </a:p>
          <a:p>
            <a:pPr algn="ctr">
              <a:spcBef>
                <a:spcPts val="400"/>
              </a:spcBef>
            </a:pPr>
            <a:r>
              <a:rPr lang="en-IN" sz="900" dirty="0">
                <a:solidFill>
                  <a:srgbClr val="1C2127"/>
                </a:solidFill>
                <a:latin typeface="Aptos"/>
              </a:rPr>
              <a:t>Easy to use UI and access the data.</a:t>
            </a:r>
            <a:endParaRPr sz="900" dirty="0">
              <a:solidFill>
                <a:srgbClr val="1C2127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"/>
          <p:cNvSpPr txBox="1">
            <a:spLocks noGrp="1"/>
          </p:cNvSpPr>
          <p:nvPr>
            <p:ph type="title"/>
          </p:nvPr>
        </p:nvSpPr>
        <p:spPr>
          <a:xfrm>
            <a:off x="3646714" y="1277799"/>
            <a:ext cx="4724400" cy="7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400" b="1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IMPACT AND BENEFITS</a:t>
            </a:r>
            <a:endParaRPr sz="2400">
              <a:solidFill>
                <a:schemeClr val="accent6"/>
              </a:solidFill>
            </a:endParaRPr>
          </a:p>
        </p:txBody>
      </p:sp>
      <p:sp>
        <p:nvSpPr>
          <p:cNvPr id="134" name="Google Shape;134;p5"/>
          <p:cNvSpPr txBox="1"/>
          <p:nvPr/>
        </p:nvSpPr>
        <p:spPr>
          <a:xfrm>
            <a:off x="1493650" y="2119996"/>
            <a:ext cx="8525229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sz="900" b="0">
                <a:solidFill>
                  <a:srgbClr val="58616C"/>
                </a:solidFill>
                <a:latin typeface="Aptos"/>
              </a:rPr>
              <a:t>5/6</a:t>
            </a:r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6" name="Google Shape;136;p5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sz="900" b="0">
                <a:solidFill>
                  <a:srgbClr val="58616C"/>
                </a:solidFill>
                <a:latin typeface="Aptos"/>
              </a:rPr>
              <a:t>Vikasit Nagpur Hackathon 2026</a:t>
            </a:r>
            <a:endParaRPr sz="1200" b="0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37" name="Google Shape;137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300" y="0"/>
            <a:ext cx="1701677" cy="1537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5" title="Screenshot 2026-08-05 at 12.39.28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58000" y="103900"/>
            <a:ext cx="5981527" cy="1290999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TextBox 138"/>
          <p:cNvSpPr txBox="1"/>
          <p:nvPr/>
        </p:nvSpPr>
        <p:spPr>
          <a:xfrm>
            <a:off x="640080" y="2011680"/>
            <a:ext cx="1069848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700" b="1">
                <a:solidFill>
                  <a:srgbClr val="0B2B58"/>
                </a:solidFill>
                <a:latin typeface="Aptos"/>
              </a:rPr>
              <a:t>IMPACT, BENEFITS &amp; SDG ALIGNMENT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658368" y="2542032"/>
            <a:ext cx="26517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6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82296" rIns="109728" bIns="64008" rtlCol="0" anchor="ctr"/>
          <a:lstStyle/>
          <a:p>
            <a:pPr algn="ctr"/>
            <a:r>
              <a:rPr sz="1500" b="1">
                <a:solidFill>
                  <a:srgbClr val="EE822A"/>
                </a:solidFill>
                <a:latin typeface="Aptos"/>
              </a:rPr>
              <a:t>RESIDENTS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C2127"/>
                </a:solidFill>
                <a:latin typeface="Aptos"/>
              </a:rPr>
              <a:t>Find the nearest measured point, its distance, date and source — without pretending unmeasured areas are known.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3456432" y="2542032"/>
            <a:ext cx="26517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6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82296" rIns="109728" bIns="64008" rtlCol="0" anchor="ctr"/>
          <a:lstStyle/>
          <a:p>
            <a:pPr algn="ctr"/>
            <a:r>
              <a:rPr sz="1500" b="1">
                <a:solidFill>
                  <a:srgbClr val="0B2B58"/>
                </a:solidFill>
                <a:latin typeface="Aptos"/>
              </a:rPr>
              <a:t>NMC / ENGINEERS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C2127"/>
                </a:solidFill>
                <a:latin typeface="Aptos"/>
              </a:rPr>
              <a:t>Turn scattered reports and datasets into one operational view with traceable evidence.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6254496" y="2542032"/>
            <a:ext cx="26517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6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82296" rIns="109728" bIns="64008" rtlCol="0" anchor="ctr"/>
          <a:lstStyle/>
          <a:p>
            <a:pPr algn="ctr"/>
            <a:r>
              <a:rPr sz="1500" b="1">
                <a:solidFill>
                  <a:srgbClr val="EE822A"/>
                </a:solidFill>
                <a:latin typeface="Aptos"/>
              </a:rPr>
              <a:t>PLANNERS / RESEARCHERS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C2127"/>
                </a:solidFill>
                <a:latin typeface="Aptos"/>
              </a:rPr>
              <a:t>Reveal where measurement coverage is sparse and where water-quality constraints matter for irrigation.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9052560" y="2542032"/>
            <a:ext cx="2148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6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82296" rIns="109728" bIns="64008" rtlCol="0" anchor="ctr"/>
          <a:lstStyle/>
          <a:p>
            <a:pPr algn="ctr"/>
            <a:r>
              <a:rPr sz="1500" b="1">
                <a:solidFill>
                  <a:srgbClr val="0B2B58"/>
                </a:solidFill>
                <a:latin typeface="Aptos"/>
              </a:rPr>
              <a:t>CITIZENS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C2127"/>
                </a:solidFill>
                <a:latin typeface="Aptos"/>
              </a:rPr>
              <a:t>Add local readings without exposing names or overstating what a low-cost meter can detect.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731520" y="4224528"/>
            <a:ext cx="10607040" cy="29260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500" b="1">
                <a:solidFill>
                  <a:srgbClr val="0B2B58"/>
                </a:solidFill>
                <a:latin typeface="Aptos"/>
              </a:rPr>
              <a:t>WHAT THE CURRENT EVIDENCE ALREADY SHOWS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777240" y="4617720"/>
            <a:ext cx="2423160" cy="960120"/>
          </a:xfrm>
          <a:prstGeom prst="roundRect">
            <a:avLst/>
          </a:prstGeom>
          <a:solidFill>
            <a:srgbClr val="F6F7F8"/>
          </a:solidFill>
          <a:ln>
            <a:solidFill>
              <a:srgbClr val="D6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82296" rIns="109728" bIns="64008" rtlCol="0" anchor="ctr"/>
          <a:lstStyle/>
          <a:p>
            <a:pPr algn="ctr"/>
            <a:r>
              <a:rPr sz="2200" b="1">
                <a:solidFill>
                  <a:srgbClr val="EE822A"/>
                </a:solidFill>
                <a:latin typeface="Aptos"/>
              </a:rPr>
              <a:t>347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C2127"/>
                </a:solidFill>
                <a:latin typeface="Aptos"/>
              </a:rPr>
              <a:t>CGWB groundwater samples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3383280" y="4617720"/>
            <a:ext cx="2423160" cy="960120"/>
          </a:xfrm>
          <a:prstGeom prst="roundRect">
            <a:avLst/>
          </a:prstGeom>
          <a:solidFill>
            <a:srgbClr val="F6F7F8"/>
          </a:solidFill>
          <a:ln>
            <a:solidFill>
              <a:srgbClr val="D6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82296" rIns="109728" bIns="64008" rtlCol="0" anchor="ctr"/>
          <a:lstStyle/>
          <a:p>
            <a:pPr algn="ctr"/>
            <a:r>
              <a:rPr sz="2000" b="1">
                <a:solidFill>
                  <a:srgbClr val="B83535"/>
                </a:solidFill>
                <a:latin typeface="Aptos"/>
              </a:rPr>
              <a:t>12 / 12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C2127"/>
                </a:solidFill>
                <a:latin typeface="Aptos"/>
              </a:rPr>
              <a:t>city groundwater points with coliform contamination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5989320" y="4617720"/>
            <a:ext cx="2423160" cy="960120"/>
          </a:xfrm>
          <a:prstGeom prst="roundRect">
            <a:avLst/>
          </a:prstGeom>
          <a:solidFill>
            <a:srgbClr val="F6F7F8"/>
          </a:solidFill>
          <a:ln>
            <a:solidFill>
              <a:srgbClr val="D6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82296" rIns="109728" bIns="64008" rtlCol="0" anchor="ctr"/>
          <a:lstStyle/>
          <a:p>
            <a:pPr algn="ctr"/>
            <a:r>
              <a:rPr sz="2000" b="1">
                <a:solidFill>
                  <a:srgbClr val="B83535"/>
                </a:solidFill>
                <a:latin typeface="Aptos"/>
              </a:rPr>
              <a:t>21 / 23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C2127"/>
                </a:solidFill>
                <a:latin typeface="Aptos"/>
              </a:rPr>
              <a:t>river sites below CPCB Class D DO threshold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8595360" y="4617720"/>
            <a:ext cx="2423160" cy="960120"/>
          </a:xfrm>
          <a:prstGeom prst="roundRect">
            <a:avLst/>
          </a:prstGeom>
          <a:solidFill>
            <a:srgbClr val="F6F7F8"/>
          </a:solidFill>
          <a:ln>
            <a:solidFill>
              <a:srgbClr val="D6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82296" rIns="109728" bIns="64008" rtlCol="0" anchor="ctr"/>
          <a:lstStyle/>
          <a:p>
            <a:pPr algn="ctr"/>
            <a:r>
              <a:rPr sz="2000" b="1">
                <a:solidFill>
                  <a:srgbClr val="EE822A"/>
                </a:solidFill>
                <a:latin typeface="Aptos"/>
              </a:rPr>
              <a:t>~175 MLD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C2127"/>
                </a:solidFill>
                <a:latin typeface="Aptos"/>
              </a:rPr>
              <a:t>current untreated sewage (reconciled)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868680" y="5715000"/>
            <a:ext cx="10241280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200" b="1">
                <a:solidFill>
                  <a:srgbClr val="58616C"/>
                </a:solidFill>
                <a:latin typeface="Aptos"/>
              </a:rPr>
              <a:t>Proposed SDG alignment: SDG 6 • SDG 11 • SDG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"/>
          <p:cNvSpPr txBox="1">
            <a:spLocks noGrp="1"/>
          </p:cNvSpPr>
          <p:nvPr>
            <p:ph type="title"/>
          </p:nvPr>
        </p:nvSpPr>
        <p:spPr>
          <a:xfrm>
            <a:off x="3521528" y="1277799"/>
            <a:ext cx="5148943" cy="6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400" b="1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 AND REFERENCES</a:t>
            </a:r>
            <a:endParaRPr sz="2400">
              <a:solidFill>
                <a:schemeClr val="accent6"/>
              </a:solidFill>
            </a:endParaRPr>
          </a:p>
        </p:txBody>
      </p:sp>
      <p:sp>
        <p:nvSpPr>
          <p:cNvPr id="145" name="Google Shape;145;p6"/>
          <p:cNvSpPr txBox="1"/>
          <p:nvPr/>
        </p:nvSpPr>
        <p:spPr>
          <a:xfrm>
            <a:off x="892628" y="2098577"/>
            <a:ext cx="93853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6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>
                <a:solidFill>
                  <a:srgbClr val="FFFFFF"/>
                </a:solidFill>
              </a:rPr>
              <a:t>Vikasit Nagpur </a:t>
            </a:r>
            <a:endParaRPr sz="1200" b="0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47" name="Google Shape;147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300" y="0"/>
            <a:ext cx="1701677" cy="1537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6" title="Screenshot 2026-08-05 at 12.39.28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58000" y="103900"/>
            <a:ext cx="5981527" cy="129099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TextBox 149"/>
          <p:cNvSpPr txBox="1"/>
          <p:nvPr/>
        </p:nvSpPr>
        <p:spPr>
          <a:xfrm>
            <a:off x="749808" y="2514600"/>
            <a:ext cx="5212080" cy="2651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C2127"/>
                </a:solidFill>
                <a:latin typeface="Aptos"/>
              </a:defRPr>
            </a:pPr>
            <a:r>
              <a:t>• Central Ground Water Board (CGWB) — 347 district groundwater points</a:t>
            </a:r>
          </a:p>
          <a:p>
            <a:pPr>
              <a:spcAft>
                <a:spcPts val="800"/>
              </a:spcAft>
              <a:defRPr sz="1300">
                <a:solidFill>
                  <a:srgbClr val="1C2127"/>
                </a:solidFill>
                <a:latin typeface="Aptos"/>
              </a:defRPr>
            </a:pPr>
            <a:r>
              <a:t>• CSIR-NEERI / NMC Environment Status Report 2023–24 — rivers, city groundwater and STPs</a:t>
            </a:r>
          </a:p>
          <a:p>
            <a:pPr>
              <a:spcAft>
                <a:spcPts val="800"/>
              </a:spcAft>
              <a:defRPr sz="1300">
                <a:solidFill>
                  <a:srgbClr val="1C2127"/>
                </a:solidFill>
                <a:latin typeface="Aptos"/>
              </a:defRPr>
            </a:pPr>
            <a:r>
              <a:t>• IS 10500:2012 — drinking-water reference limits</a:t>
            </a:r>
          </a:p>
          <a:p>
            <a:pPr>
              <a:spcAft>
                <a:spcPts val="800"/>
              </a:spcAft>
              <a:defRPr sz="1300">
                <a:solidFill>
                  <a:srgbClr val="1C2127"/>
                </a:solidFill>
                <a:latin typeface="Aptos"/>
              </a:defRPr>
            </a:pPr>
            <a:r>
              <a:t>• CPCB Designated Best Use criteria — water-use / irrigation classification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6144768" y="2514600"/>
            <a:ext cx="5029200" cy="2651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C2127"/>
                </a:solidFill>
                <a:latin typeface="Aptos"/>
              </a:defRPr>
            </a:pPr>
            <a:r>
              <a:t>• FAO-29 crop salt-tolerance data — crop yield-loss comparison</a:t>
            </a:r>
          </a:p>
          <a:p>
            <a:pPr>
              <a:spcAft>
                <a:spcPts val="800"/>
              </a:spcAft>
              <a:defRPr sz="1300">
                <a:solidFill>
                  <a:srgbClr val="1C2127"/>
                </a:solidFill>
                <a:latin typeface="Aptos"/>
              </a:defRPr>
            </a:pPr>
            <a:r>
              <a:t>• NMC Monsoon Preparedness Plan 2023 — 66 official low-lying flood areas</a:t>
            </a:r>
          </a:p>
          <a:p>
            <a:pPr>
              <a:spcAft>
                <a:spcPts val="800"/>
              </a:spcAft>
              <a:defRPr sz="1300">
                <a:solidFill>
                  <a:srgbClr val="1C2127"/>
                </a:solidFill>
                <a:latin typeface="Aptos"/>
              </a:defRPr>
            </a:pPr>
            <a:r>
              <a:t>• MPCB Oct 2025 MPR — reconciled STP operational / construction figures</a:t>
            </a:r>
          </a:p>
          <a:p>
            <a:pPr>
              <a:spcAft>
                <a:spcPts val="800"/>
              </a:spcAft>
              <a:defRPr sz="1300">
                <a:solidFill>
                  <a:srgbClr val="1C2127"/>
                </a:solidFill>
                <a:latin typeface="Aptos"/>
              </a:defRPr>
            </a:pPr>
            <a:r>
              <a:t>• OCW intervention evidence + project verification files (RECONCILIATION / AI-BUILD-CONTEXT)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960120" y="5376672"/>
            <a:ext cx="9875520" cy="777240"/>
          </a:xfrm>
          <a:prstGeom prst="roundRect">
            <a:avLst/>
          </a:prstGeom>
          <a:solidFill>
            <a:srgbClr val="F6F7F8"/>
          </a:solidFill>
          <a:ln>
            <a:solidFill>
              <a:srgbClr val="D6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82296" rIns="109728" bIns="64008" rtlCol="0" anchor="ctr"/>
          <a:lstStyle/>
          <a:p>
            <a:pPr algn="ctr"/>
            <a:r>
              <a:rPr sz="1400" b="1">
                <a:solidFill>
                  <a:srgbClr val="B83535"/>
                </a:solidFill>
                <a:latin typeface="Aptos"/>
              </a:rPr>
              <a:t>EVIDENCE PRINCIPLE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C2127"/>
                </a:solidFill>
                <a:latin typeface="Aptos"/>
              </a:rPr>
              <a:t>No invented composite water-quality score; no spatial interpolation; every displayed claim must remain traceable to a source, standard, or observed report.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097280" y="6263640"/>
            <a:ext cx="9601200" cy="2286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000" b="0">
                <a:solidFill>
                  <a:srgbClr val="58616C"/>
                </a:solidFill>
                <a:latin typeface="Aptos"/>
              </a:rPr>
              <a:t>All quantitative figures above follow the project reconciliation document; older conflicting figures are intentionally excluded.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777</Words>
  <Application>Microsoft Office PowerPoint</Application>
  <PresentationFormat>Widescreen</PresentationFormat>
  <Paragraphs>121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Georgia</vt:lpstr>
      <vt:lpstr>Times New Roman</vt:lpstr>
      <vt:lpstr>Calibri</vt:lpstr>
      <vt:lpstr>Aptos</vt:lpstr>
      <vt:lpstr>Arial</vt:lpstr>
      <vt:lpstr>Oswald</vt:lpstr>
      <vt:lpstr>Office Theme</vt:lpstr>
      <vt:lpstr>VIKASIT NAGPUR HACKATHON 2026</vt:lpstr>
      <vt:lpstr>  </vt:lpstr>
      <vt:lpstr>TECHNICAL APPROACH</vt:lpstr>
      <vt:lpstr>PRACTICAL IMPLEMENTATION</vt:lpstr>
      <vt:lpstr>IMPACT AND BENEFITS</vt:lpstr>
      <vt:lpstr>RESEARCH  AND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Crowdfunder</dc:creator>
  <cp:lastModifiedBy>Arav Dubey</cp:lastModifiedBy>
  <cp:revision>1</cp:revision>
  <dcterms:created xsi:type="dcterms:W3CDTF">2013-12-12T18:46:50Z</dcterms:created>
  <dcterms:modified xsi:type="dcterms:W3CDTF">2026-08-17T19:27:51Z</dcterms:modified>
</cp:coreProperties>
</file>